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 ·  1 · Title</a:t>
            </a:r>
          </a:p>
          <a:p/>
          <a:p>
            <a:r>
              <a:t>DO: Deck on the projector. Catalog open at localhost:3000. Studio logged in on a second screen. Do not demo yet.</a:t>
            </a:r>
          </a:p>
          <a:p/>
          <a:p>
            <a:r>
              <a:t>SAY:</a:t>
            </a:r>
          </a:p>
          <a:p>
            <a:r>
              <a:t>I am presenting a marketing website — not a SaaS product. Next.js is the site. Sanity is the CMS. Vercel is where it deploys. This catalog is Thorn and Furrow. I can open it. Two other live sites come after the close. I will not open their studios.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0:25–1:05  ·  2 · Not a SaaS</a:t>
            </a:r>
          </a:p>
          <a:p/>
          <a:p>
            <a:r>
              <a:t>DO: Point at the two columns. SaaS on the left. This site on the right. Stay on the slide.</a:t>
            </a:r>
          </a:p>
          <a:p/>
          <a:p>
            <a:r>
              <a:t>SAY:</a:t>
            </a:r>
          </a:p>
          <a:p>
            <a:r>
              <a:t>A normal SaaS is an app people log into. Dashboard, settings, roles, billing. The software is the product. This is not that. Nobody logs in. There is no account. This is a public marketing site for a real business — a farm that sells seed. The pages are the catalog: packets, stories, a letter to order. Marketers own the words and the stock. Engineering owns the types so those changes do not need a deploy. The conversion is a packet-list request — a lead — not a SaaS signup.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1:05–1:50  ·  3 · The stack</a:t>
            </a:r>
          </a:p>
          <a:p/>
          <a:p>
            <a:r>
              <a:t>DO: Walk the three boxes: Next.js, then Sanity, then Vercel. Do not open code.</a:t>
            </a:r>
          </a:p>
          <a:p/>
          <a:p>
            <a:r>
              <a:t>SAY:</a:t>
            </a:r>
          </a:p>
          <a:p>
            <a:r>
              <a:t>Three tools. Next.js is the website — React, App Router, what visitors see. Sanity is the CMS. Studio is the editor. Packets and homepage sections are documents, not a Word file. Vercel is the host. Git push, a live URL, CDN, ISR. That is production for a Next.js site. Editor publishes in Sanity. Next.js pulls the page. Vercel serves it. That loop is what I am here to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1:50–2:25  ·  4 · The job</a:t>
            </a:r>
          </a:p>
          <a:p/>
          <a:p>
            <a:r>
              <a:t>DO: Stay on the pitch slide. Do not click the site yet.</a:t>
            </a:r>
          </a:p>
          <a:p/>
          <a:p>
            <a:r>
              <a:t>SAY:</a:t>
            </a:r>
          </a:p>
          <a:p>
            <a:r>
              <a:t>The farm packs seed March through June. This season is Catalog Number 14. If a variety is listed, they grow it. Marketing does not wait on engineering for a new heading or a sold-out packet. Those are fields. I own the types. They own the weekly catalog. That is the same contract as any marketing site: structured content, page composition, caching, SEO, and analytics that survive a copy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2:25–3:00  ·  5 · What visitors see</a:t>
            </a:r>
          </a:p>
          <a:p/>
          <a:p>
            <a:r>
              <a:t>DO: Point at the four cards, then glance at the live homepage if it is visible.</a:t>
            </a:r>
          </a:p>
          <a:p/>
          <a:p>
            <a:r>
              <a:t>SAY:</a:t>
            </a:r>
          </a:p>
          <a:p>
            <a:r>
              <a:t>Visitors land on a homepage composed from Sanity sections — masthead, featured packet, sowing table, the spring list. Varieties is the catalog: seventeen packets grouped by family, the way a print catalog is grouped. Journal is the seasonal notebook. Mail order is a letter, not a cart: mark packets, tell us your zone, we write back. Studio exists at /studio for editors. It is not linked on the public site. The storefront should feel live, not like a CMS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3:00–3:35  ·  6 · Why this shape</a:t>
            </a:r>
          </a:p>
          <a:p/>
          <a:p>
            <a:r>
              <a:t>SAY:</a:t>
            </a:r>
          </a:p>
          <a:p>
            <a:r>
              <a:t>I did not build a hero, a two-by-three feature grid, and a logo wall. That would look like homework. A catalog needs four things a marketing site actually needs. Documents: Icehouse Tomato is one record, reused on home, the index, the packet page, and the order form. Composition: the homepage is an ordered list of blocks. Editors reorder it without a deploy. Editor-safe fields: stock, packet price, sowing, isolation, photographs. Stable tracking: GTM keys off event IDs, not the words on the button.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3:35–4:25  ·  7 · Architecture</a:t>
            </a:r>
          </a:p>
          <a:p/>
          <a:p>
            <a:r>
              <a:t>DO: Walk the five boxes left to right. Do not open code unless asked.</a:t>
            </a:r>
          </a:p>
          <a:p/>
          <a:p>
            <a:r>
              <a:t>SAY:</a:t>
            </a:r>
          </a:p>
          <a:p>
            <a:r>
              <a:t>The path is simple. An editor publishes in Sanity Studio. Next.js pulls the page with GROQ through next-sanity. Pages are React Server Components in the App Router. Production uses ISR — pages revalidate about every sixty seconds — plus a signed revalidate API after publish, so we do not wait a full minute. If Sanity is down, a local seed still renders the catalog. That is resilience, and it is also how a demo does not die. Photographs come from Sanity assets, with a local file fallback per slug.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4:25–5:00  ·  8 · Content model</a:t>
            </a:r>
          </a:p>
          <a:p/>
          <a:p>
            <a:r>
              <a:t>DO: Name the five documents. Mention the Studio desk is labeled The farm.</a:t>
            </a:r>
          </a:p>
          <a:p/>
          <a:p>
            <a:r>
              <a:t>SAY:</a:t>
            </a:r>
          </a:p>
          <a:p>
            <a:r>
              <a:t>Five document types. Farm settings: name, nav, primary CTA, footer, default SEO. Catalog homepage: SEO plus an ordered section array. Variety: latin name, family, days, packet, stock, photo, story. That is the product object. Journal note and workshop are seasonal content. The Studio desk is labeled The farm so editors see a catalog, not a generic CMS. Change Icehouse Tomato once. Home, packet page, and order form all update, because they reference the same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5:00–7:40  ·  9 · Live demo</a:t>
            </a:r>
          </a:p>
          <a:p/>
          <a:p>
            <a:r>
              <a:t>DO: Switch to the browser. (1) Homepage: masthead, Icehouse feature, sowing table, packet grid. (2) Click Icehouse Tomato. (3) Studio → Catalog homepage → masthead heading → Publish → reload /. (4) Hover Request a packet list and say the event ID.</a:t>
            </a:r>
          </a:p>
          <a:p/>
          <a:p>
            <a:r>
              <a:t>SAY:</a:t>
            </a:r>
          </a:p>
          <a:p>
            <a:r>
              <a:t>This is the site. Catalog Number 14, Spring 2026. The masthead is a section. The featured packet is a document — latin name, story, maturity, stock — not a dashboard widget. The sowing table is editorial and dated for zone 6a. The spring list is seventeen references to variety documents. Marketing reorders this list. I own the types. Icehouse Tomato: same document you just saw featured. App Router, static params, ISR. In Studio, under Catalog homepage, I change the masthead heading and publish. Reload. The heading is live. That publish loop is the work. Request a packet list: the label is copy. The contract is eventId — hero_order, nav_order. Copy can change. GTM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7:40–8:20  ·  10 · What I would defend</a:t>
            </a:r>
          </a:p>
          <a:p/>
          <a:p>
            <a:r>
              <a:t>DO: Back to the deck. If Studio failed, say: seed fallback still rendered the catalog.</a:t>
            </a:r>
          </a:p>
          <a:p/>
          <a:p>
            <a:r>
              <a:t>SAY:</a:t>
            </a:r>
          </a:p>
          <a:p>
            <a:r>
              <a:t>Five decisions I would make again. Server components and GROQ, not a client-side CMS fetch on every page. References over duplication. Event IDs on every CTA so measurement survives a rewrite. ISR plus a signed revalidate webhook. No cart. The conversion is a qualified packet-list request — closer to a real marketing funnel than a fake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8:20–8:50  ·  11 · Close</a:t>
            </a:r>
          </a:p>
          <a:p/>
          <a:p>
            <a:r>
              <a:t>DO: One line. If they only have ten minutes, stop and take questions. Otherwise go to slide 12.</a:t>
            </a:r>
          </a:p>
          <a:p/>
          <a:p>
            <a:r>
              <a:t>SAY:</a:t>
            </a:r>
          </a:p>
          <a:p>
            <a:r>
              <a:t>The catalog is the product. The CMS is how it changes without a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8:50–9:05  ·  12 · NDA map</a:t>
            </a:r>
          </a:p>
          <a:p/>
          <a:p>
            <a:r>
              <a:t>DO: Point at both public homepages. Do not open Studio. Then Jamb, then Slingshot.</a:t>
            </a:r>
          </a:p>
          <a:p/>
          <a:p>
            <a:r>
              <a:t>SAY:</a:t>
            </a:r>
          </a:p>
          <a:p>
            <a:r>
              <a:t>Same pattern as an ads business: who buys, what is inventory, how a visit becomes a sale. Then where the CMS sits. Jamb is a Pimlico dealer. Slingshot Bio sells reagents to flow cytometry labs. I will not open Studio, schemas, or fields. Public surfaces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9:05–9:40  ·  13 · Jamb business</a:t>
            </a:r>
          </a:p>
          <a:p/>
          <a:p>
            <a:r>
              <a:t>DO: Walk who, inventory, sale. Screenshot is the public homepage. No Studio.</a:t>
            </a:r>
          </a:p>
          <a:p/>
          <a:p>
            <a:r>
              <a:t>SAY:</a:t>
            </a:r>
          </a:p>
          <a:p>
            <a:r>
              <a:t>Jamb opened on Pimlico Road in 2001. The buyer is an interior designer, a collector, a country-house client — London, then Los Angeles, Chicago, Dallas, Atlanta, Palm Beach. Inventory is two things at once. Unique antiques: chimneypieces from the seventeenth century on, furniture, lighting. And handmade reproductions from the south London workshop, so a design stays available after the antique sells — that is the original business idea. The sale is high-ticket and consultative. A designer specs a piece from the catalog. The showroom closes it. Enquiry, not Amazon checkout. Sanity owns collections and journal stories. Next.js is the storefront.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9:40–10:10  ·  14 · Jamb catalog</a:t>
            </a:r>
          </a:p>
          <a:p/>
          <a:p>
            <a:r>
              <a:t>DO: Name the four public collections. Do not invent schemas.</a:t>
            </a:r>
          </a:p>
          <a:p/>
          <a:p>
            <a:r>
              <a:t>SAY:</a:t>
            </a:r>
          </a:p>
          <a:p>
            <a:r>
              <a:t>Four public surfaces, same contract as any marketing catalog. Fireplaces: antique chimneypieces and stone or marble reproductions, plus a bespoke service. Lighting: hanging globes, lanterns, wall lights — the Original Globe is the story that started the reproduction line. Furniture: English country-house seating and tables, antique and made. Journal: stories for architects and designers, not a blog calendar. Editors change stock and stories. Engineering owns the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10:10–10:45  ·  15 · Slingshot business</a:t>
            </a:r>
          </a:p>
          <a:p/>
          <a:p>
            <a:r>
              <a:t>DO: Walk the problem, then the product, then who pays. Screenshot is How Mimics Work. No Studio.</a:t>
            </a:r>
          </a:p>
          <a:p/>
          <a:p>
            <a:r>
              <a:t>SAY:</a:t>
            </a:r>
          </a:p>
          <a:p>
            <a:r>
              <a:t>Slingshot Bio sells to flow cytometry labs: biopharma, CROs, academic cores, cell therapy, instrument makers. The problem is the control. Donor cells expire and drift lot to lot. Polystyrene beads have the wrong scatter. They sell shelf-stable synthetic cell mimics — polymer particles engineered to scatter, fluoresce, and stain like real cells. Compensation, unmixing, viability, immunophenotyping, instrument setup. Catalog SKUs plus custom mimics on request. A scientist finds a control, reads a protocol, orders a reagent. Repeat purchases. Sanity owns product and resource documents. Next.js is the catalog and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10:45–11:15  ·  16 · Slingshot catalog</a:t>
            </a:r>
          </a:p>
          <a:p/>
          <a:p>
            <a:r>
              <a:t>DO: Home, how it works, shop. Name public surfaces only.</a:t>
            </a:r>
          </a:p>
          <a:p/>
          <a:p>
            <a:r>
              <a:t>SAY:</a:t>
            </a:r>
          </a:p>
          <a:p>
            <a:r>
              <a:t>Three public surfaces. Homepage is the catalog of controls. How Mimics Work is the argument: not a biologic, not a bead. Shop is the conversion: SKUs grouped by purpose — unmixing, immunophenotyping, CAR-T, custom — then a cart. Resources sit beside the shop: application notes, data sheets, protocols. That is the education that sells a reagent. Same rule: I cannot open the desk.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11:15–11:30  ·  17 · Stop</a:t>
            </a:r>
          </a:p>
          <a:p/>
          <a:p>
            <a:r>
              <a:t>DO: Stop. Invite questions on Thorn and Furrow, not on those studios.</a:t>
            </a:r>
          </a:p>
          <a:p/>
          <a:p>
            <a:r>
              <a:t>SAY:</a:t>
            </a:r>
          </a:p>
          <a:p>
            <a:r>
              <a:t>I cannot open those desks. This catalog I can. Happy to go into schema, caching, or the order form —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6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title-pa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0"/>
            <a:ext cx="4858207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333488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33488" y="0"/>
            <a:ext cx="82296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7333488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32004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600" b="1">
                <a:solidFill>
                  <a:srgbClr val="2A3628"/>
                </a:solidFill>
                <a:latin typeface="Georgia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794760" cy="347472"/>
          </a:xfrm>
          <a:prstGeom prst="roundRect">
            <a:avLst>
              <a:gd name="adj" fmla="val 20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TEN MINUTES  ·  THEN PAST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Thorn &amp; Furrow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6309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4CC"/>
                </a:solidFill>
                <a:latin typeface="Georgia"/>
              </a:rPr>
              <a:t>A live heirloom-seed catalog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4CC"/>
                </a:solidFill>
                <a:latin typeface="Georgia"/>
              </a:rPr>
              <a:t>on Next.js and Sanity.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09160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B5A4"/>
                </a:solidFill>
                <a:latin typeface="Calibri"/>
              </a:rPr>
              <a:t>Product.  Content model.  Publish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06440"/>
            <a:ext cx="132588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6309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Next.js   ·   Sanity   ·  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This is not a SaaS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02  /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170432"/>
            <a:ext cx="10881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Calibri"/>
              </a:rPr>
              <a:t>I am presenting a public marketing website for a real business. Visitors do not log in. Marketers change the catalog without a deploy.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5349240" cy="47548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105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A normal SaaS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31720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People log in. Dashboard, settings, roles, billing.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990088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The software is the product.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48456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Data belongs to each customer’s account.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06824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Engineering ships features: auth, CRUD, permissions.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965192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Success is signup, activation,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19072"/>
            <a:ext cx="5349240" cy="47548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105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This site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Nobody logs in. The catalog is public.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990088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The catalog is the marketing surface.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648456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Content is editorial: packets, stories, stock.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06824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Engineering ships types, pages, publish, SEO, tracking.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965192"/>
            <a:ext cx="4892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Success is a packet-list request — a lead.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Next.js, Sanity, Vercel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03  /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1704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Calibri"/>
              </a:rPr>
              <a:t>Three tools. Editor publishes in Sanity. Next.js draws the page. Vercel hosts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691640"/>
            <a:ext cx="356616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1901952"/>
            <a:ext cx="402336" cy="402336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9751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2110F"/>
                </a:solidFill>
                <a:latin typeface="Georgia"/>
              </a:rPr>
              <a:t>Next.js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063240"/>
            <a:ext cx="3154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Calibri"/>
              </a:rPr>
              <a:t>The website. React, App Router. What visitors see: homepage, packets, journal, mail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56616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62856" y="1901952"/>
            <a:ext cx="402336" cy="402336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6" y="19751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2110F"/>
                </a:solidFill>
                <a:latin typeface="Georgia"/>
              </a:rPr>
              <a:t>Sanity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063240"/>
            <a:ext cx="3154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Calibri"/>
              </a:rPr>
              <a:t>The CMS. Studio is the editor. Packets and homepage sections are documents — not a Word file.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691640"/>
            <a:ext cx="356616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66176" y="1901952"/>
            <a:ext cx="402336" cy="402336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19751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2110F"/>
                </a:solidFill>
                <a:latin typeface="Georgia"/>
              </a:rPr>
              <a:t>Vercel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3063240"/>
            <a:ext cx="3154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B6560"/>
                </a:solidFill>
                <a:latin typeface="Calibri"/>
              </a:rPr>
              <a:t>The host. Git push, a live URL, CDN, ISR. Production for a Next.js marketing site.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I own the types. They own the catalog.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04  /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98448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The farm packs seed March through June. Catalog No. 14 — if a variety is listed, they grow it.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Marketing does not wait on engineering for a new heading or a sold-out packet. Those are fields. I own the types. They own the weekly catalog.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08960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108960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00400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No.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Spring 2026. The season is a document, not a 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096512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096512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87952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5354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Packets still grown out. No ornamental fillers.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84064"/>
            <a:ext cx="4937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84064"/>
            <a:ext cx="91440" cy="877824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75504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2110F"/>
                </a:solidFill>
                <a:latin typeface="Georgia"/>
              </a:rPr>
              <a:t>Mar–Jun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2297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Packed the week they ship. Zone 6a, Tivoli.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42432" y="1298448"/>
            <a:ext cx="5806440" cy="48097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42432" y="1298448"/>
            <a:ext cx="58064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70448" y="13807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35040" y="13807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99632" y="13807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335024"/>
            <a:ext cx="4983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localhost:3000  ·  live catalog</a:t>
            </a:r>
          </a:p>
        </p:txBody>
      </p:sp>
      <p:pic>
        <p:nvPicPr>
          <p:cNvPr id="29" name="Picture 28" descr="home_889x6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2" y="1572768"/>
            <a:ext cx="5806440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What visitors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05  /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Four public surfaces. Studio lives at /studio and is not linked on the storefront — the catalog should feel live, not like a CMS demo.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ome_819x2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65376"/>
            <a:ext cx="5349240" cy="1572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Ordered CMS sections: masthead, featured packet, sowing table, spring list.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/varieties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arieties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865376"/>
            <a:ext cx="5349240" cy="1572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3620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Seventeen packets grouped by family, the way a print catalog is grouped.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/journal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journal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33088"/>
            <a:ext cx="5349240" cy="1572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Seasonal field notes. Not a blog calendar.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Mail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/order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der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133088"/>
            <a:ext cx="5349240" cy="15727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 letter, not a cart. Mark packets, tell us your zone, we write 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Why this shape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06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353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264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408176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00784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Icehouse Tomato is one record. Home, the index, the packet page, and the order form all reference it. Change stock once — every surface updates.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23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9689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78608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871216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The homepage is an ordered section array: masthead, featured packet, sowing table, spring list. Editors reorder blocks without a deploy.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94176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76732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74904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Editor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041648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Stock, packet price, sowing, isolation, photographs. Marketing edits fields. Engineering owns the types.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86460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377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91947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2110F"/>
                </a:solidFill>
                <a:latin typeface="Georgia"/>
              </a:rPr>
              <a:t>Stable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12080"/>
            <a:ext cx="4480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GTM keys off eventId (hero_order, nav_order), not the words on the button. Copy can change. Measurement does not.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3872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Same Icehouse document — packet page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33872" y="1627632"/>
            <a:ext cx="5687568" cy="44622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33872" y="1627632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61888" y="170992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26480" y="170992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91072" y="170992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1664208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/varieties/icehouse-tomato</a:t>
            </a:r>
          </a:p>
        </p:txBody>
      </p:sp>
      <p:pic>
        <p:nvPicPr>
          <p:cNvPr id="33" name="Picture 32" descr="icehouse_870x6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1901952"/>
            <a:ext cx="5687568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Editor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07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Studio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70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44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54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4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GROQ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56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30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40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Next.js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42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16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ISR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28048" y="1554480"/>
            <a:ext cx="256032" cy="146304"/>
          </a:xfrm>
          <a:prstGeom prst="rightArrow">
            <a:avLst/>
          </a:prstGeom>
          <a:solidFill>
            <a:srgbClr val="A8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02368" y="1325880"/>
            <a:ext cx="1993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12096" y="1426464"/>
            <a:ext cx="420624" cy="420624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12096" y="149961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9296" y="142646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Catalog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202996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Editor publishes in Studio. Next.js pulls with GROQ. RSC pages. ISR every 60s, plus a signed revalidate API after publish. If Sanity is down, local seed still renders.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2432304"/>
            <a:ext cx="5349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Studio  ·  homepage section + Icehouse document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2670048"/>
            <a:ext cx="5349240" cy="3419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2670048"/>
            <a:ext cx="53492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6384" y="27523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50976" y="27523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5568" y="27523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16736" y="2706624"/>
            <a:ext cx="4526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/studio  ·  featured section</a:t>
            </a:r>
          </a:p>
        </p:txBody>
      </p:sp>
      <p:pic>
        <p:nvPicPr>
          <p:cNvPr id="42" name="Picture 41" descr="studio-home_819x4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44368"/>
            <a:ext cx="5349240" cy="31455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199632" y="2432304"/>
            <a:ext cx="5349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Storefront  ·  the same heading, live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2670048"/>
            <a:ext cx="5321808" cy="3419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670048"/>
            <a:ext cx="532180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327648" y="275234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92240" y="275234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56832" y="275234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2706624"/>
            <a:ext cx="4498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</a:t>
            </a:r>
          </a:p>
        </p:txBody>
      </p:sp>
      <p:pic>
        <p:nvPicPr>
          <p:cNvPr id="50" name="Picture 49" descr="home_814x4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944368"/>
            <a:ext cx="5321808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Five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08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517904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572768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3898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Farm settings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7007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Site name, nav, primary CTA, footer, default SEO — the chrome of the catalog.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231136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450592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505456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32257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Catalog homepage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633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SEO plus an ordered section array. Editors compose the front page.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63824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3383280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43814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5526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Variety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566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The product object: latin name, family, days, packet, stock, photo, story.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96512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4315968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370832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18795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Journal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9884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Season, excerpt, body. Field notes, not a blog calendar.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" y="5248656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303520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12064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Workshop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Date, place, seats. Seasonal, same desk as the packets.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2984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Icehouse Tomato open in Studio — common name, latin, slug. Change it once; home, packet page, and order form all follow.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719072"/>
            <a:ext cx="55778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1719072"/>
            <a:ext cx="55778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071616" y="180136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36208" y="180136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00800" y="180136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1755648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/studio  ·  Variety document</a:t>
            </a:r>
          </a:p>
        </p:txBody>
      </p:sp>
      <p:pic>
        <p:nvPicPr>
          <p:cNvPr id="42" name="Picture 41" descr="studio-variety_854x6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93392"/>
            <a:ext cx="557784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Live demo — this is the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09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10881360" cy="384048"/>
          </a:xfrm>
          <a:prstGeom prst="roundRect">
            <a:avLst>
              <a:gd name="adj" fmla="val 4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5331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Switch to the browser. Four clicks: home, Icehouse, publish a heading, then the CTA event ID.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78308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965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09397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ome_819x2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93976"/>
            <a:ext cx="5349240" cy="1481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" y="3611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Masthead is a section. Featured packet is a document — not a widget.</a:t>
            </a:r>
          </a:p>
        </p:txBody>
      </p:sp>
      <p:sp>
        <p:nvSpPr>
          <p:cNvPr id="18" name="Oval 17"/>
          <p:cNvSpPr/>
          <p:nvPr/>
        </p:nvSpPr>
        <p:spPr>
          <a:xfrm>
            <a:off x="6236208" y="178308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181965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1783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Packet page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209397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ehouse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2093976"/>
            <a:ext cx="5349240" cy="1481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8" y="3611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Same Icehouse record. App Router, static params, ISR.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" y="397764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1421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" y="3977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Publish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28853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tudio-home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288536"/>
            <a:ext cx="5349240" cy="14813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8368" y="58064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Studio → Catalog homepage → masthead → Publish → reload /.</a:t>
            </a:r>
          </a:p>
        </p:txBody>
      </p:sp>
      <p:sp>
        <p:nvSpPr>
          <p:cNvPr id="30" name="Oval 29"/>
          <p:cNvSpPr/>
          <p:nvPr/>
        </p:nvSpPr>
        <p:spPr>
          <a:xfrm>
            <a:off x="6236208" y="3977640"/>
            <a:ext cx="292608" cy="292608"/>
          </a:xfrm>
          <a:prstGeom prst="ellipse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6208" y="4014216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0256" y="3977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Tracking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6208" y="4288536"/>
            <a:ext cx="534924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order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288536"/>
            <a:ext cx="5349240" cy="14813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236208" y="58064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“Request a packet list” is copy. eventId is the contract.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What I would defend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10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517904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572768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38988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RSC + GROQ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7007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Pages fetch on the server. Not a client-side CMS call on every 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231136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450592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505456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32257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6334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One variety document. Home, packet, and order form share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63824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3383280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43814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5526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eventId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566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GTM keys off hero_order / nav_order. A rewrite of the button does not break measurement.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96512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4315968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370832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18795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ISR + webhook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9884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Revalidate about every 60s, or immediately after publish via a signed API.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507492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" y="5248656"/>
            <a:ext cx="402336" cy="402336"/>
          </a:xfrm>
          <a:prstGeom prst="roundRect">
            <a:avLst>
              <a:gd name="adj" fmla="val 18000"/>
            </a:avLst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303520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12064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2110F"/>
                </a:solidFill>
                <a:latin typeface="Georgia"/>
              </a:rPr>
              <a:t>No cart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 qualified packet-list request — a marketing lead, not a fake checkout.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2984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We do not run a cart. Mark packets, tell us your zone, we write back — then pack the week it ships.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719072"/>
            <a:ext cx="55778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1719072"/>
            <a:ext cx="557784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071616" y="1801368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36208" y="1801368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00800" y="1801368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1755648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/order  ·  eventId on the CTA</a:t>
            </a:r>
          </a:p>
        </p:txBody>
      </p:sp>
      <p:pic>
        <p:nvPicPr>
          <p:cNvPr id="42" name="Picture 41" descr="order_854x6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93392"/>
            <a:ext cx="557784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A8B5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The catalog is the product.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The CMS is how it changes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without a deploy.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709160"/>
            <a:ext cx="141732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8D4CC"/>
                </a:solidFill>
                <a:latin typeface="Calibri"/>
              </a:rPr>
              <a:t>Two more live sites next. Public business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89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Then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5989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A8B5A4"/>
                </a:solidFill>
                <a:latin typeface="Calibri"/>
              </a:rPr>
              <a:t>11  / 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Work I cannot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12  /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Calibri"/>
              </a:rPr>
              <a:t>Same as an ads business: who buys, what is inventory, how a visit becomes a sale. Then where Sanity sits. No Studio, schemas, or fields.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18105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Jamb  ·  jamb.co.uk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" y="2103120"/>
            <a:ext cx="49377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9536" y="2103120"/>
            <a:ext cx="493776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7552" y="2185416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2185416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6736" y="2185416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17904" y="213969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jamb.co.uk  ·  public catalog</a:t>
            </a:r>
          </a:p>
        </p:txBody>
      </p:sp>
      <p:pic>
        <p:nvPicPr>
          <p:cNvPr id="19" name="Picture 18" descr="jamb_756x4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377440"/>
            <a:ext cx="4937760" cy="2788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9536" y="5285232"/>
            <a:ext cx="4937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Pimlico dealer. Designers and collectors. Antiques plus reproductions.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Next: who buys, inventory, the four collections.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719072"/>
            <a:ext cx="5349240" cy="4370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8105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2110F"/>
                </a:solidFill>
                <a:latin typeface="Georgia"/>
              </a:rPr>
              <a:t>Slingshot Bio  ·  slingshotbio.com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103120"/>
            <a:ext cx="49377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2103120"/>
            <a:ext cx="4937760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28816" y="2185416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3408" y="2185416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0" y="2185416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168" y="213969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slingshotbio.com  ·  public catalog</a:t>
            </a:r>
          </a:p>
        </p:txBody>
      </p:sp>
      <p:pic>
        <p:nvPicPr>
          <p:cNvPr id="29" name="Picture 28" descr="slingshot_756x4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77440"/>
            <a:ext cx="4937760" cy="2788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5285232"/>
            <a:ext cx="4937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Reagents for flow cytometry labs. Cell mimics, not donor cells.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Next: the problem, the product, the shop.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Jamb — who buys, what sells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13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Interior designers, collectors, country-house clients. Flagship on Pimlico Road; showrooms in Los Angeles, Chicago, Dallas, Atlanta, Palm Beach.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68880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16352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Unique antiques — chimneypieces, lighting, furniture — and handmade reproductions from the south London workshop, so a design stays available after the antique sells.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39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124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Sale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986784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High-ticket, consultative. The site is the catalog for the showroom. A designer specs a piece; enquiry closes it. Not a cart.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809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CMS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57216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Sanity owns collections and journal stories. Next.js is the storefront. I cannot open the desk.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29844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Public homepage — not Studio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33872" y="1572768"/>
            <a:ext cx="5687568" cy="4517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33872" y="1572768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61888" y="165506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26480" y="165506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91072" y="165506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609344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jamb.co.uk</a:t>
            </a:r>
          </a:p>
        </p:txBody>
      </p:sp>
      <p:pic>
        <p:nvPicPr>
          <p:cNvPr id="29" name="Picture 28" descr="jamb_870x6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1847088"/>
            <a:ext cx="5687568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Jamb — four public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14  /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Same contract as any marketing catalog: collections and stories in the CMS, storefront in Next.js. I will not name schemas or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Fireplaces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/fireplaces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jamb-fireplaces_819x2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65376"/>
            <a:ext cx="5349240" cy="1572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36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Antique chimneypieces and stone or marble reproductions. Bespoke when the room needs a scale that is not in stock.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162763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627632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Lighting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8" y="162763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/lighting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865376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amb-lighting_819x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865376"/>
            <a:ext cx="5349240" cy="1572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36208" y="34747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Hanging globes, lanterns, wall lights. The Original Globe is the story that started the reproduction line.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Furniture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/furniture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jamb-furniture_819x2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33088"/>
            <a:ext cx="5349240" cy="1572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English country-house seating and tables — antique and made. Same aesthetic as the chimneypieces.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8953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3895344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Journal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389534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/journal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4133088"/>
            <a:ext cx="534924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jamb-journal_819x2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133088"/>
            <a:ext cx="5349240" cy="15727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5742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Stories for architects and designers. Not a blog calendar. Sanity owns the stories.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Slingshot — the control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15  /  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298448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459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Flow cytometry labs: biopharma, CROs, academic cores, cell therapy, instrument makers.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68880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16352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Donor cells expire and drift lot to lot. Polystyrene beads have the wrong scatter. The control is the weak point in the assay.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39312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124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986784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Shelf-stable synthetic cell mimics — polymer particles that scatter, fluoresce, and stain like real cells. Catalog SKUs plus custom mimics.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809744"/>
            <a:ext cx="498348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A4A38"/>
                </a:solidFill>
                <a:latin typeface="Georgia"/>
              </a:rPr>
              <a:t>Sale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57216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560"/>
                </a:solidFill>
                <a:latin typeface="Calibri"/>
              </a:rPr>
              <a:t>A scientist finds a control, reads a protocol, orders a reagent. Repeat purchases. Sanity owns product and resource documents.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29844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A4A38"/>
                </a:solidFill>
                <a:latin typeface="Calibri"/>
              </a:rPr>
              <a:t>How Mimics Work — public argument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33872" y="1572768"/>
            <a:ext cx="5687568" cy="4517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33872" y="1572768"/>
            <a:ext cx="5687568" cy="274320"/>
          </a:xfrm>
          <a:prstGeom prst="rect">
            <a:avLst/>
          </a:prstGeom>
          <a:solidFill>
            <a:srgbClr val="EEE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61888" y="1655064"/>
            <a:ext cx="109728" cy="109728"/>
          </a:xfrm>
          <a:prstGeom prst="ellipse">
            <a:avLst/>
          </a:prstGeom>
          <a:solidFill>
            <a:srgbClr val="C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126480" y="1655064"/>
            <a:ext cx="109728" cy="109728"/>
          </a:xfrm>
          <a:prstGeom prst="ellipse">
            <a:avLst/>
          </a:prstGeom>
          <a:solidFill>
            <a:srgbClr val="D2B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91072" y="1655064"/>
            <a:ext cx="109728" cy="109728"/>
          </a:xfrm>
          <a:prstGeom prst="ellipse">
            <a:avLst/>
          </a:prstGeom>
          <a:solidFill>
            <a:srgbClr val="8AA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609344"/>
            <a:ext cx="4864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slingshotbio.com/how-mimics-work</a:t>
            </a:r>
          </a:p>
        </p:txBody>
      </p:sp>
      <p:pic>
        <p:nvPicPr>
          <p:cNvPr id="29" name="Picture 28" descr="slingshot-mimics_870x6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1847088"/>
            <a:ext cx="5687568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2110F"/>
                </a:solidFill>
                <a:latin typeface="Georgia"/>
              </a:rPr>
              <a:t>Slingshot — catalog, argument, 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24128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382512"/>
            <a:ext cx="10881360" cy="14604"/>
          </a:xfrm>
          <a:prstGeom prst="rect">
            <a:avLst/>
          </a:prstGeom>
          <a:solidFill>
            <a:srgbClr val="E4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7395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Georgia"/>
              </a:rPr>
              <a:t>Thorn &amp; Furrow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739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6560"/>
                </a:solidFill>
                <a:latin typeface="Calibri"/>
              </a:rPr>
              <a:t>16  /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61872"/>
            <a:ext cx="10881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6560"/>
                </a:solidFill>
                <a:latin typeface="Calibri"/>
              </a:rPr>
              <a:t>Public surfaces only. Products and resources live in Sanity. Next.js is the catalog and shop. I will not open Studio.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Homepage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lingshot_546x5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8528"/>
            <a:ext cx="3566160" cy="3520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  ·  Catalog of controls: compensation, unmixing, viability, immunophenotyping.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Argument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lingshot-mimics_546x5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938528"/>
            <a:ext cx="3566160" cy="3520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6168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/how-mimics-work  ·  Not a biologic. Not a bead. The page that sells the category.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664208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A4A38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166420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2110F"/>
                </a:solidFill>
                <a:latin typeface="Georgia"/>
              </a:rPr>
              <a:t>Shop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1938528"/>
            <a:ext cx="356616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lingshot-shop_546x5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938528"/>
            <a:ext cx="3566160" cy="35204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65008" y="553212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Calibri"/>
              </a:rPr>
              <a:t>/shop  ·  SKUs by purpose, then a cart. Custom mimics on request. Repeat reagent purchases.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A8B5A4"/>
                </a:solidFill>
                <a:latin typeface="Calibri"/>
              </a:rPr>
              <a:t>STOP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I cannot open those desks.</a:t>
            </a:r>
          </a:p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This catalog I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709160"/>
            <a:ext cx="1417320" cy="64008"/>
          </a:xfrm>
          <a:prstGeom prst="rect">
            <a:avLst/>
          </a:prstGeom>
          <a:solidFill>
            <a:srgbClr val="3A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D8D4CC"/>
                </a:solidFill>
                <a:latin typeface="Calibri"/>
              </a:rPr>
              <a:t>Schema, caching, and the order form — here, on Thorn &amp; Furrow.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89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5989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A8B5A4"/>
                </a:solidFill>
                <a:latin typeface="Calibri"/>
              </a:rPr>
              <a:t>17  / 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Thorn &amp; Furrow</dc:title>
  <dc:subject>A live heirloom-seed catalog on Next.js and Sanity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