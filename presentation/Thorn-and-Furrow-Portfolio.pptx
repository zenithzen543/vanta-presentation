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0004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0:00–0:35  ·  1 · Title</a:t>
            </a:r>
          </a:p>
          <a:p>
            <a:endParaRPr/>
          </a:p>
          <a:p>
            <a:r>
              <a:t>DO: Deck on the projector. Catalog open at localhost:3000. Studio logged in on a second screen.</a:t>
            </a:r>
          </a:p>
          <a:p>
            <a:endParaRPr/>
          </a:p>
          <a:p>
            <a:r>
              <a:t>SAY:</a:t>
            </a:r>
          </a:p>
          <a:p>
            <a:r>
              <a:t>I ship Next.js and Sanity marketing sites. This is Thorn and Furrow: a live heirloom-seed catalog I can open. Product, content model, publish loop. Two other live sites come after the close — Jamb, then Slingshot. I will explain those businesses. I will not open their studios.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0:35–1:20  ·  2 · The job</a:t>
            </a:r>
          </a:p>
          <a:p>
            <a:endParaRPr/>
          </a:p>
          <a:p>
            <a:r>
              <a:t>DO: Stay on the pitch slide. Do not click the site yet.</a:t>
            </a:r>
          </a:p>
          <a:p>
            <a:endParaRPr/>
          </a:p>
          <a:p>
            <a:r>
              <a:t>SAY:</a:t>
            </a:r>
          </a:p>
          <a:p>
            <a:r>
              <a:t>The farm packs seed March through June. This season is Catalog Number 14. If a variety is listed, they grow it. Marketing does not wait on engineering for a new heading or a sold-out packet. Those are fields. I own the types. They own the weekly catalog. That is the same contract as any marketing site: structured content, page composition, caching, SEO, and analytics that survive a copy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1:20–2:05  ·  3 · What visitors see</a:t>
            </a:r>
          </a:p>
          <a:p>
            <a:endParaRPr/>
          </a:p>
          <a:p>
            <a:r>
              <a:t>DO: Point at the four cards, then glance at the live homepage if it is visible.</a:t>
            </a:r>
          </a:p>
          <a:p>
            <a:endParaRPr/>
          </a:p>
          <a:p>
            <a:r>
              <a:t>SAY:</a:t>
            </a:r>
          </a:p>
          <a:p>
            <a:r>
              <a:t>Visitors land on a homepage composed from Sanity sections — masthead, featured packet, sowing table, the spring list. Varieties is the catalog: seventeen packets grouped by family, the way a print catalog is grouped. Journal is the seasonal notebook. Mail order is a letter, not a cart: mark packets, tell us your zone, we write back. Studio exists at /studio for editors. It is not linked on the public site. The storefront should feel live, not like a CMS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2:05–2:50  ·  4 · Why this shape</a:t>
            </a:r>
          </a:p>
          <a:p>
            <a:endParaRPr/>
          </a:p>
          <a:p>
            <a:r>
              <a:t>SAY:</a:t>
            </a:r>
          </a:p>
          <a:p>
            <a:r>
              <a:t>I did not build a hero, a two-by-three feature grid, and a logo wall. That would look like homework. A catalog needs four things a marketing site actually needs. Documents: Icehouse Tomato is one record, reused on home, the index, the packet page, and the order form. Composition: the homepage is an ordered list of blocks. Editors reorder it without a deploy. Editor-safe fields: stock, packet price, sowing, isolation, photographs. Stable tracking: GTM keys off event IDs, not the words on the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2:50–3:50  ·  5 · Architecture</a:t>
            </a:r>
          </a:p>
          <a:p>
            <a:endParaRPr/>
          </a:p>
          <a:p>
            <a:r>
              <a:t>DO: Walk the five boxes left to right. Do not open code unless asked.</a:t>
            </a:r>
          </a:p>
          <a:p>
            <a:endParaRPr/>
          </a:p>
          <a:p>
            <a:r>
              <a:t>SAY:</a:t>
            </a:r>
          </a:p>
          <a:p>
            <a:r>
              <a:t>The path is simple. An editor publishes in Sanity Studio. Next.js pulls the page with GROQ through next-sanity. Pages are React Server Components in the App Router. Production uses ISR — pages revalidate about every sixty seconds — plus a signed revalidate API after publish, so we do not wait a full minute. If Sanity is down, a local seed still renders the catalog. That is resilience, and it is also how a demo does not die. Photographs come from Sanity assets, with a local file fallback per slug.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3:50–4:35  ·  6 · Content model</a:t>
            </a:r>
          </a:p>
          <a:p>
            <a:endParaRPr/>
          </a:p>
          <a:p>
            <a:r>
              <a:t>DO: Name the five documents. Mention the Studio desk is labeled The farm.</a:t>
            </a:r>
          </a:p>
          <a:p>
            <a:endParaRPr/>
          </a:p>
          <a:p>
            <a:r>
              <a:t>SAY:</a:t>
            </a:r>
          </a:p>
          <a:p>
            <a:r>
              <a:t>Five document types. Farm settings: name, nav, primary CTA, footer, default SEO. Catalog homepage: SEO plus an ordered section array. Variety: latin name, family, days, packet, stock, photo, story. That is the product object. Journal note and workshop are seasonal content. The Studio desk is labeled The farm so editors see a catalog, not a generic CMS. Change Icehouse Tomato once. Home, packet page, and order form all update, because they reference the same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4:35–7:30  ·  7 · Live demo</a:t>
            </a:r>
          </a:p>
          <a:p>
            <a:endParaRPr/>
          </a:p>
          <a:p>
            <a:r>
              <a:t>DO: Switch to the browser. (1) Homepage: masthead, Icehouse feature, sowing table, packet grid. (2) Click Icehouse Tomato. (3) Studio → Catalog homepage → masthead heading → Publish → reload /. (4) Hover Request a packet list and say the event ID.</a:t>
            </a:r>
          </a:p>
          <a:p>
            <a:endParaRPr/>
          </a:p>
          <a:p>
            <a:r>
              <a:t>SAY:</a:t>
            </a:r>
          </a:p>
          <a:p>
            <a:r>
              <a:t>This is the site. Catalog Number 14, Spring 2026. The masthead is a section. The featured packet is a document — latin name, story, maturity, stock — not a dashboard widget. The sowing table is editorial and dated for zone 6a. The spring list is seventeen references to variety documents. Marketing reorders this list. I own the types. Icehouse Tomato: same document you just saw featured. App Router, static params, ISR. In Studio, under Catalog homepage, I change the masthead heading and publish. Reload. The heading is live. That publish loop is the work. Request a packet list: the label is copy. The contract is eventId — hero_order, nav_order. Copy can change. GTM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7:30–8:20  ·  8 · What I would defend</a:t>
            </a:r>
          </a:p>
          <a:p>
            <a:endParaRPr/>
          </a:p>
          <a:p>
            <a:r>
              <a:t>DO: Back to the deck. If Studio failed, say: seed fallback still rendered the catalog.</a:t>
            </a:r>
          </a:p>
          <a:p>
            <a:endParaRPr/>
          </a:p>
          <a:p>
            <a:r>
              <a:t>SAY:</a:t>
            </a:r>
          </a:p>
          <a:p>
            <a:r>
              <a:t>Five decisions I would make again. Server components and GROQ, not a client-side CMS fetch on every page. References over duplication. Event IDs on every CTA so measurement survives a rewrite. ISR plus a signed revalidate webhook. No cart. The conversion is a qualified packet-list request — closer to a real marketing funnel than a fake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8:20–8:50  ·  9 · Close</a:t>
            </a:r>
          </a:p>
          <a:p>
            <a:endParaRPr/>
          </a:p>
          <a:p>
            <a:r>
              <a:t>DO: One line. If they only have ten minutes, stop and take questions. Otherwise go to slide 10.</a:t>
            </a:r>
          </a:p>
          <a:p>
            <a:endParaRPr/>
          </a:p>
          <a:p>
            <a:r>
              <a:t>SAY:</a:t>
            </a:r>
          </a:p>
          <a:p>
            <a:r>
              <a:t>The catalog is the product. The CMS is how it changes without a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8:50–9:05  ·  10 · NDA map</a:t>
            </a:r>
          </a:p>
          <a:p>
            <a:endParaRPr/>
          </a:p>
          <a:p>
            <a:r>
              <a:t>DO: Point at both public homepages. Do not open Studio. Then Jamb, then Slingshot.</a:t>
            </a:r>
          </a:p>
          <a:p>
            <a:endParaRPr/>
          </a:p>
          <a:p>
            <a:r>
              <a:t>SAY:</a:t>
            </a:r>
          </a:p>
          <a:p>
            <a:r>
              <a:t>Same pattern as an ads business: who buys, what is inventory, how a visit becomes a sale. Then where the CMS sits. Jamb is a Pimlico dealer. Slingshot Bio sells reagents to flow cytometry labs. I will not open Studio, schemas, or fields. Public surfaces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9:05–9:40  ·  11 · Jamb business</a:t>
            </a:r>
          </a:p>
          <a:p>
            <a:endParaRPr/>
          </a:p>
          <a:p>
            <a:r>
              <a:t>DO: Walk who, inventory, sale. Screenshot is the public homepage. No Studio.</a:t>
            </a:r>
          </a:p>
          <a:p>
            <a:endParaRPr/>
          </a:p>
          <a:p>
            <a:r>
              <a:t>SAY:</a:t>
            </a:r>
          </a:p>
          <a:p>
            <a:r>
              <a:t>Jamb opened on Pimlico Road in 2001. The buyer is an interior designer, a collector, a country-house client — London, then Los Angeles, Chicago, Dallas, Atlanta, Palm Beach. Inventory is two things at once. Unique antiques: chimneypieces from the seventeenth century on, furniture, lighting. And handmade reproductions from the south London workshop, so a design stays available after the antique sells — that is the original business idea. The sale is high-ticket and consultative. A designer specs a piece from the catalog. The showroom closes it. Enquiry, not Amazon checkout. Sanity owns collections and journal stories. Next.js is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9:40–10:10  ·  12 · Jamb catalog</a:t>
            </a:r>
          </a:p>
          <a:p>
            <a:endParaRPr/>
          </a:p>
          <a:p>
            <a:r>
              <a:t>DO: Name the four public collections. Do not invent schemas.</a:t>
            </a:r>
          </a:p>
          <a:p>
            <a:endParaRPr/>
          </a:p>
          <a:p>
            <a:r>
              <a:t>SAY:</a:t>
            </a:r>
          </a:p>
          <a:p>
            <a:r>
              <a:t>Four public surfaces, same contract as any marketing catalog. Fireplaces: antique chimneypieces and stone or marble reproductions, plus a bespoke service. Lighting: hanging globes, lanterns, wall lights — the Original Globe is the story that started the reproduction line. Furniture: English country-house seating and tables, antique and made. Journal: stories for architects and designers, not a blog calendar. Editors change stock and stories. Engineering owns the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10:10–10:45  ·  13 · Slingshot business</a:t>
            </a:r>
          </a:p>
          <a:p>
            <a:endParaRPr/>
          </a:p>
          <a:p>
            <a:r>
              <a:t>DO: Walk the problem, then the product, then who pays. Screenshot is How Mimics Work. No Studio.</a:t>
            </a:r>
          </a:p>
          <a:p>
            <a:endParaRPr/>
          </a:p>
          <a:p>
            <a:r>
              <a:t>SAY:</a:t>
            </a:r>
          </a:p>
          <a:p>
            <a:r>
              <a:t>Slingshot Bio sells to flow cytometry labs: biopharma, CROs, academic cores, cell therapy, instrument makers. The problem is the control. Donor cells expire and drift lot to lot. Polystyrene beads have the wrong scatter. They sell shelf-stable synthetic cell mimics — polymer particles engineered to scatter, fluoresce, and stain like real cells. Compensation, unmixing, viability, immunophenotyping, instrument setup. Catalog SKUs plus custom mimics on request. A scientist finds a control, reads a protocol, orders a reagent. Repeat purchases. Sanity owns product and resource documents. Next.js is the catalog and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10:45–11:15  ·  14 · Slingshot catalog</a:t>
            </a:r>
          </a:p>
          <a:p>
            <a:endParaRPr/>
          </a:p>
          <a:p>
            <a:r>
              <a:t>DO: Home, how it works, shop. Name public surfaces only.</a:t>
            </a:r>
          </a:p>
          <a:p>
            <a:endParaRPr/>
          </a:p>
          <a:p>
            <a:r>
              <a:t>SAY:</a:t>
            </a:r>
          </a:p>
          <a:p>
            <a:r>
              <a:t>Three public surfaces. Homepage is the catalog of controls. How Mimics Work is the argument: not a biologic, not a bead. Shop is the conversion: SKUs grouped by purpose — unmixing, immunophenotyping, CAR-T, custom — then a cart. Resources sit beside the shop: application notes, data sheets, protocols. That is the education that sells a reagent. Same rule: I cannot open the desk.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11:15–11:30  ·  15 · Stop</a:t>
            </a:r>
          </a:p>
          <a:p>
            <a:endParaRPr/>
          </a:p>
          <a:p>
            <a:r>
              <a:t>DO: Stop. Invite questions on Thorn and Furrow, not on those studios.</a:t>
            </a:r>
          </a:p>
          <a:p>
            <a:endParaRPr/>
          </a:p>
          <a:p>
            <a:r>
              <a:t>SAY:</a:t>
            </a:r>
          </a:p>
          <a:p>
            <a:r>
              <a:t>I cannot open those desks. This catalog I can. Happy to go into schema, caching, or the order form —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hornandfurrow-2ed4o5men-zenithzen22222-2223.vercel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title-pan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0"/>
            <a:ext cx="4858207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333488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33488" y="0"/>
            <a:ext cx="82296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7333488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0" y="3200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600" b="1" dirty="0">
                <a:solidFill>
                  <a:srgbClr val="2A3628"/>
                </a:solidFill>
                <a:latin typeface="Georgi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794760" cy="347472"/>
          </a:xfrm>
          <a:prstGeom prst="roundRect">
            <a:avLst>
              <a:gd name="adj" fmla="val 20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Vanta - Presentation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20624" y="187452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dirty="0">
                <a:solidFill>
                  <a:srgbClr val="FFFFFF"/>
                </a:solidFill>
                <a:latin typeface="Georgia"/>
              </a:rPr>
              <a:t>Thorn &amp; Furrow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6309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dirty="0">
                <a:solidFill>
                  <a:srgbClr val="D8D4CC"/>
                </a:solidFill>
                <a:latin typeface="Georgia"/>
              </a:rPr>
              <a:t>A live heirloom-seed catalog</a:t>
            </a:r>
          </a:p>
          <a:p>
            <a:pPr algn="l">
              <a:spcAft>
                <a:spcPts val="600"/>
              </a:spcAft>
            </a:pPr>
            <a:r>
              <a:rPr sz="2200" b="0" dirty="0">
                <a:solidFill>
                  <a:srgbClr val="D8D4CC"/>
                </a:solidFill>
                <a:latin typeface="Georgia"/>
              </a:rPr>
              <a:t>on Next.js and Sanity.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09160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B5A4"/>
                </a:solidFill>
                <a:latin typeface="Calibri"/>
              </a:rPr>
              <a:t>Product.  Content model.  Publish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06440"/>
            <a:ext cx="132588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6309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Next.js App Router   ·   Sanity   ·   TypeScript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I own the types. They own the catalog.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02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98448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The farm packs seed March through June. Catalog No. 14 — if a variety is listed, they grow it.</a:t>
            </a:r>
          </a:p>
          <a:p>
            <a:pPr algn="l">
              <a:spcAft>
                <a:spcPts val="600"/>
              </a:spcAft>
            </a:pPr>
            <a:endParaRPr sz="1400" b="0">
              <a:solidFill>
                <a:srgbClr val="6B6560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Marketing does not wait on engineering for a new heading or a sold-out packet. Those are fields. I own the types. They own the weekly catalog.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3108960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12110F"/>
                </a:solidFill>
                <a:latin typeface="Georgia"/>
              </a:rPr>
              <a:t>No.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Spring 2026. The season is a document, not a 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096512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8368" y="4096512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354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Packets still grown out. No ornamental fillers.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84064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084064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175504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Mar–Jun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2297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Packed the week they ship. Zone 6a, Tivoli.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42432" y="1298448"/>
            <a:ext cx="5806440" cy="4809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42432" y="1298448"/>
            <a:ext cx="58064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870448" y="13807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035040" y="13807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199632" y="13807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1335024"/>
            <a:ext cx="4983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6B6560"/>
                </a:solidFill>
                <a:hlinkClick r:id="rId3"/>
              </a:rPr>
              <a:t>https://thornandfurrow-2ed4o5men-zenithzen22222-2223.vercel.app/</a:t>
            </a:r>
            <a:r>
              <a:rPr lang="en-US" sz="1000" dirty="0">
                <a:solidFill>
                  <a:srgbClr val="6B6560"/>
                </a:solidFill>
              </a:rPr>
              <a:t> </a:t>
            </a:r>
            <a:r>
              <a:rPr sz="1000" b="0" dirty="0">
                <a:solidFill>
                  <a:srgbClr val="6B6560"/>
                </a:solidFill>
                <a:latin typeface="Calibri"/>
              </a:rPr>
              <a:t>·  live catalog</a:t>
            </a:r>
          </a:p>
        </p:txBody>
      </p:sp>
      <p:pic>
        <p:nvPicPr>
          <p:cNvPr id="29" name="Picture 28" descr="home_889x6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1572768"/>
            <a:ext cx="580644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visitors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03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dirty="0">
                <a:solidFill>
                  <a:srgbClr val="6B6560"/>
                </a:solidFill>
                <a:latin typeface="Calibri"/>
              </a:rPr>
              <a:t>Four public surfaces. Studio lives at /studio and is not linked on the storefront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home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Ordered CMS sections: masthead, featured packet, sowing table, spring list.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/varieties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varieties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Seventeen packets grouped by family, the way a print catalog is grouped.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journal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Seasonal field notes. Not a blog calendar.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Mail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/order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order_819x2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 letter, not a cart. Mark packets, tell us your zone, we write 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Why this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53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4264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408176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00784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Icehouse Tomato is one record. Home, the index, the packet page, and the order form all reference it. Change stock once — every surface updates.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23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9689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78608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871216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The homepage is an ordered section array: masthead, featured packet, sowing table, spring list. Editors reorder blocks without a deploy.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94176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4904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Editor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41648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Stock, packet price, sowing, isolation, photographs. Marketing edits fields. Engineering owns the types.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86460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91947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Stable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12080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GTM keys off </a:t>
            </a:r>
            <a:r>
              <a:rPr sz="1200" b="0" dirty="0" err="1">
                <a:solidFill>
                  <a:srgbClr val="6B6560"/>
                </a:solidFill>
                <a:latin typeface="Calibri"/>
              </a:rPr>
              <a:t>eventId</a:t>
            </a:r>
            <a:r>
              <a:rPr sz="1200" b="0" dirty="0">
                <a:solidFill>
                  <a:srgbClr val="6B6560"/>
                </a:solidFill>
                <a:latin typeface="Calibri"/>
              </a:rPr>
              <a:t> (</a:t>
            </a:r>
            <a:r>
              <a:rPr sz="1200" b="0" dirty="0" err="1">
                <a:solidFill>
                  <a:srgbClr val="6B6560"/>
                </a:solidFill>
                <a:latin typeface="Calibri"/>
              </a:rPr>
              <a:t>hero_order</a:t>
            </a:r>
            <a:r>
              <a:rPr sz="1200" b="0" dirty="0">
                <a:solidFill>
                  <a:srgbClr val="6B6560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6B6560"/>
                </a:solidFill>
                <a:latin typeface="Calibri"/>
              </a:rPr>
              <a:t>nav_order</a:t>
            </a:r>
            <a:r>
              <a:rPr sz="1200" b="0" dirty="0">
                <a:solidFill>
                  <a:srgbClr val="6B6560"/>
                </a:solidFill>
                <a:latin typeface="Calibri"/>
              </a:rPr>
              <a:t>), not the words on the button. Copy can change. Measurement does not.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872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Same Icehouse document — packet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33872" y="1627632"/>
            <a:ext cx="5687568" cy="44622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833872" y="1627632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961888" y="170992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126480" y="170992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291072" y="170992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1664208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/varieties/icehouse-tomato</a:t>
            </a:r>
          </a:p>
        </p:txBody>
      </p:sp>
      <p:pic>
        <p:nvPicPr>
          <p:cNvPr id="33" name="Picture 32" descr="icehouse_870x6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901952"/>
            <a:ext cx="5687568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Editor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68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Studio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0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44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054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54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GROQ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56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30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340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40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Next.js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42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516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626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26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ISR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28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802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12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12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9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02996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dirty="0">
                <a:solidFill>
                  <a:srgbClr val="6B6560"/>
                </a:solidFill>
                <a:latin typeface="Calibri"/>
              </a:rPr>
              <a:t>Editor publishes in Studio. Next.js pulls with GROQ. RSC pages. ISR every 60s, plus a signed revalidate API after publish. If Sanity is down, local seed still renders.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2432304"/>
            <a:ext cx="5349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Studio  ·  homepage section + Icehouse document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2670048"/>
            <a:ext cx="5349240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58368" y="2670048"/>
            <a:ext cx="53492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86384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950976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115568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16736" y="2706624"/>
            <a:ext cx="4526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featured section</a:t>
            </a:r>
          </a:p>
        </p:txBody>
      </p:sp>
      <p:pic>
        <p:nvPicPr>
          <p:cNvPr id="42" name="Picture 41" descr="studio-home_819x4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44368"/>
            <a:ext cx="5349240" cy="31455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199632" y="2432304"/>
            <a:ext cx="5349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3A4A38"/>
                </a:solidFill>
                <a:latin typeface="Calibri"/>
              </a:rPr>
              <a:t>Storefront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2670048"/>
            <a:ext cx="5321808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199632" y="2670048"/>
            <a:ext cx="532180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327648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6492240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656832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58000" y="2706624"/>
            <a:ext cx="4498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pic>
        <p:nvPicPr>
          <p:cNvPr id="50" name="Picture 49" descr="home_814x4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2944368"/>
            <a:ext cx="5321808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Five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06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Farm settings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Site name, nav, primary CTA, footer, default SEO — the chrome of the catalog.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Catalog homepage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SEO plus an ordered section array. Editors compose the front page.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Variety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The product object: latin name, family, days, packet, stock, photo, story.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Journal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B6560"/>
                </a:solidFill>
                <a:latin typeface="Calibri"/>
              </a:rPr>
              <a:t>Season, excerpt, body. Field notes, not a blog calendar.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Date, place, seats. Seasonal, same desk as the packets.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6B6560"/>
                </a:solidFill>
                <a:latin typeface="Calibri"/>
              </a:rPr>
              <a:t>Icehouse Tomato open in Studio — common name, </a:t>
            </a:r>
            <a:r>
              <a:rPr sz="1200" b="0" dirty="0" err="1">
                <a:solidFill>
                  <a:srgbClr val="6B6560"/>
                </a:solidFill>
                <a:latin typeface="Calibri"/>
              </a:rPr>
              <a:t>latin</a:t>
            </a:r>
            <a:r>
              <a:rPr sz="1200" b="0" dirty="0">
                <a:solidFill>
                  <a:srgbClr val="6B6560"/>
                </a:solidFill>
                <a:latin typeface="Calibri"/>
              </a:rPr>
              <a:t>, slug. Change it once; home, packet page, and order form all follow.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Variety document</a:t>
            </a:r>
          </a:p>
        </p:txBody>
      </p:sp>
      <p:pic>
        <p:nvPicPr>
          <p:cNvPr id="42" name="Picture 41" descr="studio-variety_854x6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dirty="0">
                <a:solidFill>
                  <a:srgbClr val="12110F"/>
                </a:solidFill>
                <a:latin typeface="Georgia"/>
              </a:rPr>
              <a:t>Live demo — this is the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07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10881360" cy="384048"/>
          </a:xfrm>
          <a:prstGeom prst="roundRect">
            <a:avLst>
              <a:gd name="adj" fmla="val 4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35331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Switch to the browser. Four clicks: home, Icehouse, publish a heading, then the CTA event ID.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93976"/>
            <a:ext cx="5349240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Masthead is a section. Featured packet is a document — not a widget.</a:t>
            </a:r>
          </a:p>
        </p:txBody>
      </p:sp>
      <p:sp>
        <p:nvSpPr>
          <p:cNvPr id="18" name="Oval 17"/>
          <p:cNvSpPr/>
          <p:nvPr/>
        </p:nvSpPr>
        <p:spPr>
          <a:xfrm>
            <a:off x="623620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Packet page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ehouse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2093976"/>
            <a:ext cx="5349240" cy="1481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Same Icehouse record. App Router, static params, ISR.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Publish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studio-home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288536"/>
            <a:ext cx="5349240" cy="14813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836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Studio → Catalog homepage → masthead → Publish → reload /.</a:t>
            </a:r>
          </a:p>
        </p:txBody>
      </p:sp>
      <p:sp>
        <p:nvSpPr>
          <p:cNvPr id="30" name="Oval 29"/>
          <p:cNvSpPr/>
          <p:nvPr/>
        </p:nvSpPr>
        <p:spPr>
          <a:xfrm>
            <a:off x="623620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620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025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order_819x2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4288536"/>
            <a:ext cx="5349240" cy="14813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3620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“Request a packet list” is copy. eventId is the contract.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I would defend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08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RSC + GROQ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Pages fetch on the server. Not a client-side CMS call on every 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One variety document. Home, packet, and order form share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12110F"/>
                </a:solidFill>
                <a:latin typeface="Georgia"/>
              </a:rPr>
              <a:t>eventId</a:t>
            </a:r>
            <a:endParaRPr sz="1500" b="1" dirty="0">
              <a:solidFill>
                <a:srgbClr val="12110F"/>
              </a:solidFill>
              <a:latin typeface="Georgi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B6560"/>
                </a:solidFill>
                <a:latin typeface="Calibri"/>
              </a:rPr>
              <a:t>GTM keys off </a:t>
            </a:r>
            <a:r>
              <a:rPr sz="1100" b="0" dirty="0" err="1">
                <a:solidFill>
                  <a:srgbClr val="6B6560"/>
                </a:solidFill>
                <a:latin typeface="Calibri"/>
              </a:rPr>
              <a:t>hero_order</a:t>
            </a:r>
            <a:r>
              <a:rPr sz="1100" b="0" dirty="0">
                <a:solidFill>
                  <a:srgbClr val="6B6560"/>
                </a:solidFill>
                <a:latin typeface="Calibri"/>
              </a:rPr>
              <a:t> / </a:t>
            </a:r>
            <a:r>
              <a:rPr sz="1100" b="0" dirty="0" err="1">
                <a:solidFill>
                  <a:srgbClr val="6B6560"/>
                </a:solidFill>
                <a:latin typeface="Calibri"/>
              </a:rPr>
              <a:t>nav_order</a:t>
            </a:r>
            <a:r>
              <a:rPr sz="1100" b="0" dirty="0">
                <a:solidFill>
                  <a:srgbClr val="6B6560"/>
                </a:solidFill>
                <a:latin typeface="Calibri"/>
              </a:rPr>
              <a:t>. A rewrite of the button does not break measurement.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ISR + webhook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B6560"/>
                </a:solidFill>
                <a:latin typeface="Calibri"/>
              </a:rPr>
              <a:t>Revalidate about every 60s, or immediately after publish via a signed API.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No cart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B6560"/>
                </a:solidFill>
                <a:latin typeface="Calibri"/>
              </a:rPr>
              <a:t>A qualified packet-list request — a marketing lead, not a fake checkout.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We do not run a cart. Mark packets, tell us your zone, we write back — then pack the week it ships.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/order  ·  eventId on the CTA</a:t>
            </a:r>
          </a:p>
        </p:txBody>
      </p:sp>
      <p:pic>
        <p:nvPicPr>
          <p:cNvPr id="42" name="Picture 41" descr="order_854x6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catalog is the product.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CMS is how it changes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without a deploy.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Two more live sites next. Public business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Then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09  / 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Work I cannot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10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Same as an ads business: who buys, what is inventory, how a visit becomes a sale. Then where Sanity sits. No Studio, schemas, or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Jamb  ·  jamb.co.uk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9536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87552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52144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316736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17904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  ·  public catalog</a:t>
            </a:r>
          </a:p>
        </p:txBody>
      </p:sp>
      <p:pic>
        <p:nvPicPr>
          <p:cNvPr id="19" name="Picture 18" descr="jamb_756x4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377440"/>
            <a:ext cx="4937760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9536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Pimlico dealer. Designers and collectors. Antiques plus reproductions.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who buys, inventory, the four collections.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Slingshot Bio  ·  slingshotbio.com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0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8816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693408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858000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168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  ·  public catalog</a:t>
            </a:r>
          </a:p>
        </p:txBody>
      </p:sp>
      <p:pic>
        <p:nvPicPr>
          <p:cNvPr id="29" name="Picture 28" descr="slingshot_756x4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377440"/>
            <a:ext cx="4937760" cy="2788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Reagents for flow cytometry labs. Cell mimics, not donor cells.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the problem, the product, the shop.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who buys, what sells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11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Interior designers, collectors, country-house clients. Flagship on Pimlico Road; showrooms in Los Angeles, Chicago, Dallas, Atlanta, Palm Beach.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Unique antiques — chimneypieces, lighting, furniture — and handmade reproductions from the south London workshop, so a design stays available after the antique sells.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High-ticket, consultative. The site is the catalog for the showroom. A designer specs a piece; enquiry closes it. Not a cart.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CMS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Sanity owns collections and journal stories. Next.js is the storefront. I cannot open the desk.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Public homepage — not Studio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</a:t>
            </a:r>
          </a:p>
        </p:txBody>
      </p:sp>
      <p:pic>
        <p:nvPicPr>
          <p:cNvPr id="29" name="Picture 28" descr="jamb_870x6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four public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12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Same contract as any marketing catalog: collections and stories in the CMS, storefront in Next.js. I will not name schemas or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Fireplaces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/fireplaces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jamb-fireplaces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Antique chimneypieces and stone or marble reproductions. Bespoke when the room needs a scale that is not in stock.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Lighting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/lighting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jamb-lighting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Hanging globes, lanterns, wall lights. The Original Globe is the story that started the reproduction line.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Furniture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/furniture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jamb-furniture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English country-house seating and tables — antique and made. Same aesthetic as the chimneypieces.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Journal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jamb-journal_819x2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Stories for architects and designers. Not a blog calendar. Sanity owns the stories.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the control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Flow cytometry labs: biopharma, CROs, academic cores, cell therapy, instrument makers.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Donor cells expire and drift lot to lot. Polystyrene beads have the wrong scatter. The control is the weak point in the assay.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Shelf-stable synthetic cell mimics — polymer particles that scatter, fluoresce, and stain like real cells. Catalog SKUs plus custom mimics.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A scientist finds a control, reads a protocol, orders a reagent. Repeat purchases. Sanity owns product and resource documents.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How Mimics Work — public argument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slingshotbio.com/how-mimics-work</a:t>
            </a:r>
          </a:p>
        </p:txBody>
      </p:sp>
      <p:pic>
        <p:nvPicPr>
          <p:cNvPr id="29" name="Picture 28" descr="slingshot-mimics_870x6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catalog, argument,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14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Public surfaces only. Products and resources live in Sanity. Next.js is the catalog and shop. I will not open Studio.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lingshot_546x5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38528"/>
            <a:ext cx="3566160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  ·  Catalog of controls: compensation, unmixing, viability, immunophenotyping.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Argument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ngshot-mimics_546x5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688" y="1938528"/>
            <a:ext cx="3566160" cy="3520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168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/how-mimics-work  ·  Not a biologic. Not a bead. The page that sells the 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Shop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lingshot-shop_546x53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1938528"/>
            <a:ext cx="3566160" cy="35204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6500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/shop  ·  SKUs by purpose, then a cart. Custom mimics on request. Repeat reagent purchases.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STOP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I cannot open those desks.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This catalog I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Schema, caching, and the order form — here, on Thorn &amp; Furrow.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15  /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3157</Words>
  <Application>Microsoft Office PowerPoint</Application>
  <PresentationFormat>Widescreen</PresentationFormat>
  <Paragraphs>303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Thorn &amp; Furrow</dc:title>
  <dc:subject>A live heirloom-seed catalog on Next.js and Sanity</dc:subject>
  <dc:creator/>
  <cp:keywords/>
  <dc:description>generated using python-pptx</dc:description>
  <cp:lastModifiedBy>Edward Smith</cp:lastModifiedBy>
  <cp:revision>5</cp:revision>
  <dcterms:created xsi:type="dcterms:W3CDTF">2013-01-27T09:14:16Z</dcterms:created>
  <dcterms:modified xsi:type="dcterms:W3CDTF">2026-08-27T12:18:02Z</dcterms:modified>
  <cp:category/>
</cp:coreProperties>
</file>